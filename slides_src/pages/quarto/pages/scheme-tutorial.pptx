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17</a:t>
            </a:r>
            <a:r>
              <a:rPr>
                <a:latin typeface="Courier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)             </a:t>
            </a:r>
            <a:r>
              <a:rPr i="1">
                <a:solidFill>
                  <a:srgbClr val="60A0B0"/>
                </a:solidFill>
                <a:latin typeface="Courier"/>
              </a:rPr>
              <a:t>; evaluates to 0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           </a:t>
            </a:r>
            <a:r>
              <a:rPr i="1">
                <a:solidFill>
                  <a:srgbClr val="60A0B0"/>
                </a:solidFill>
                <a:latin typeface="Courier"/>
              </a:rPr>
              <a:t>; evaluates to 5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; evaluates to 15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            </a:t>
            </a:r>
            <a:r>
              <a:rPr i="1">
                <a:solidFill>
                  <a:srgbClr val="60A0B0"/>
                </a:solidFill>
                <a:latin typeface="Courier"/>
              </a:rPr>
              <a:t>; evaluates to 1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           </a:t>
            </a:r>
            <a:r>
              <a:rPr i="1">
                <a:solidFill>
                  <a:srgbClr val="60A0B0"/>
                </a:solidFill>
                <a:latin typeface="Courier"/>
              </a:rPr>
              <a:t>; evaluates to 5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; evaluates to 120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(define</a:t>
            </a:r>
            <a:r>
              <a:rPr>
                <a:solidFill>
                  <a:srgbClr val="06287E"/>
                </a:solidFill>
                <a:latin typeface="Courier"/>
              </a:rPr>
              <a:t> f </a:t>
            </a:r>
            <a:r>
              <a:rPr>
                <a:solidFill>
                  <a:srgbClr val="40A070"/>
                </a:solidFill>
                <a:latin typeface="Courier"/>
              </a:rPr>
              <a:t>120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7 (7 is called an atom)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f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#t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#f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#t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#t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(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#f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(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#t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42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99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A070"/>
                </a:solidFill>
                <a:latin typeface="Courier"/>
              </a:rPr>
              <a:t>33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33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A070"/>
                </a:solidFill>
                <a:latin typeface="Courier"/>
              </a:rPr>
              <a:t>33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#f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cond</a:t>
            </a:r>
            <a:r>
              <a:rPr>
                <a:latin typeface="Courier"/>
              </a:rPr>
              <a:t> ((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"greater"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((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"lesser"</a:t>
            </a:r>
            <a:r>
              <a:rPr>
                <a:latin typeface="Courier"/>
              </a:rPr>
              <a:t>))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greater</a:t>
            </a:r>
            <a:br/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cond</a:t>
            </a:r>
            <a:r>
              <a:rPr>
                <a:latin typeface="Courier"/>
              </a:rPr>
              <a:t> ((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"greater"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((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"lesser"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(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"equal"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equal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(define</a:t>
            </a:r>
            <a:r>
              <a:rPr>
                <a:solidFill>
                  <a:srgbClr val="06287E"/>
                </a:solidFill>
                <a:latin typeface="Courier"/>
              </a:rPr>
              <a:t> n </a:t>
            </a:r>
            <a:r>
              <a:rPr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cond</a:t>
            </a:r>
            <a:r>
              <a:rPr>
                <a:latin typeface="Courier"/>
              </a:rPr>
              <a:t> ((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"negative"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((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"positivie"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(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"zero"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negative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(x) 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'the </a:t>
            </a:r>
            <a:br/>
            <a:r>
              <a:rPr>
                <a:latin typeface="Courier"/>
              </a:rPr>
              <a:t>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; function that adds </a:t>
            </a:r>
            <a:br/>
            <a:r>
              <a:rPr>
                <a:latin typeface="Courier"/>
              </a:rPr>
              <a:t>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;1 to its parameter'</a:t>
            </a:r>
            <a:br/>
            <a:r>
              <a:rPr>
                <a:latin typeface="Courier"/>
              </a:rPr>
              <a:t>((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(x) 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has the value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(x y) 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x y))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(define</a:t>
            </a:r>
            <a:r>
              <a:rPr>
                <a:solidFill>
                  <a:srgbClr val="06287E"/>
                </a:solidFill>
                <a:latin typeface="Courier"/>
              </a:rPr>
              <a:t> add </a:t>
            </a: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(x) 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(define</a:t>
            </a:r>
            <a:r>
              <a:rPr>
                <a:solidFill>
                  <a:srgbClr val="06287E"/>
                </a:solidFill>
                <a:latin typeface="Courier"/>
              </a:rPr>
              <a:t> </a:t>
            </a:r>
            <a:r>
              <a:rPr>
                <a:latin typeface="Courier"/>
              </a:rPr>
              <a:t>(ADD a b)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display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a b)))</a:t>
            </a:r>
            <a:br/>
            <a:r>
              <a:rPr>
                <a:latin typeface="Courier"/>
              </a:rPr>
              <a:t>(ADD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newline</a:t>
            </a:r>
            <a:r>
              <a:rPr>
                <a:latin typeface="Courier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(define</a:t>
            </a:r>
            <a:r>
              <a:rPr>
                <a:solidFill>
                  <a:srgbClr val="06287E"/>
                </a:solidFill>
                <a:latin typeface="Courier"/>
              </a:rPr>
              <a:t> f </a:t>
            </a:r>
            <a:r>
              <a:rPr>
                <a:solidFill>
                  <a:srgbClr val="40A070"/>
                </a:solidFill>
                <a:latin typeface="Courier"/>
              </a:rPr>
              <a:t>120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f </a:t>
            </a:r>
            <a:r>
              <a:rPr i="1">
                <a:solidFill>
                  <a:srgbClr val="60A0B0"/>
                </a:solidFill>
                <a:latin typeface="Courier"/>
              </a:rPr>
              <a:t>; evaluates to 120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f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evaluates to 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; an atom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; procedure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; procedure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value 0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value 1</a:t>
            </a:r>
            <a:br/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*** ERROR IN console@26:1 -- Operator is not a PROCEDURE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; a list (2)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     </a:t>
            </a:r>
            <a:r>
              <a:rPr i="1">
                <a:solidFill>
                  <a:srgbClr val="60A0B0"/>
                </a:solidFill>
                <a:latin typeface="Courier"/>
              </a:rPr>
              <a:t>; PROCEDURE: Evaluates arguments and ALLOCATES a NEW list (2 3 4).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quote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))   </a:t>
            </a:r>
            <a:r>
              <a:rPr i="1">
                <a:solidFill>
                  <a:srgbClr val="60A0B0"/>
                </a:solidFill>
                <a:latin typeface="Courier"/>
              </a:rPr>
              <a:t>; SPECIAL FORM: Returns a POINTER to a LITERAL list (2 3 4).</a:t>
            </a:r>
            <a:br/>
            <a:r>
              <a:rPr>
                <a:latin typeface="Courier"/>
              </a:rPr>
              <a:t>'(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         </a:t>
            </a:r>
            <a:r>
              <a:rPr i="1">
                <a:solidFill>
                  <a:srgbClr val="60A0B0"/>
                </a:solidFill>
                <a:latin typeface="Courier"/>
              </a:rPr>
              <a:t>; SHORTHAND: Identical to (quote (2 3 4)); returns a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(define</a:t>
            </a:r>
            <a:r>
              <a:rPr>
                <a:solidFill>
                  <a:srgbClr val="06287E"/>
                </a:solidFill>
                <a:latin typeface="Courier"/>
              </a:rPr>
              <a:t> </a:t>
            </a:r>
            <a:r>
              <a:rPr>
                <a:latin typeface="Courier"/>
              </a:rPr>
              <a:t>(safe-add a b)</a:t>
            </a:r>
            <a:br/>
            <a:r>
              <a:rPr>
                <a:latin typeface="Courier"/>
              </a:rPr>
              <a:t>  (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number?</a:t>
            </a:r>
            <a:r>
              <a:rPr>
                <a:latin typeface="Courier"/>
              </a:rPr>
              <a:t> a) (</a:t>
            </a:r>
            <a:r>
              <a:rPr b="1">
                <a:solidFill>
                  <a:srgbClr val="007020"/>
                </a:solidFill>
                <a:latin typeface="Courier"/>
              </a:rPr>
              <a:t>number?</a:t>
            </a:r>
            <a:r>
              <a:rPr>
                <a:latin typeface="Courier"/>
              </a:rPr>
              <a:t> b))</a:t>
            </a:r>
            <a:br/>
            <a:r>
              <a:rPr>
                <a:latin typeface="Courier"/>
              </a:rPr>
              <a:t>      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a b)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4070A0"/>
                </a:solidFill>
                <a:latin typeface="Courier"/>
              </a:rPr>
              <a:t>"Error: Both arguments must be numbers!"</a:t>
            </a:r>
            <a:r>
              <a:rPr>
                <a:latin typeface="Courier"/>
              </a:rPr>
              <a:t>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(define</a:t>
            </a:r>
            <a:r>
              <a:rPr>
                <a:solidFill>
                  <a:srgbClr val="06287E"/>
                </a:solidFill>
                <a:latin typeface="Courier"/>
              </a:rPr>
              <a:t> x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even?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)) </a:t>
            </a:r>
            <a:r>
              <a:rPr i="1">
                <a:solidFill>
                  <a:srgbClr val="60A0B0"/>
                </a:solidFill>
                <a:latin typeface="Courier"/>
              </a:rPr>
              <a:t>; value 8</a:t>
            </a:r>
            <a:br/>
            <a:br/>
            <a:r>
              <a:rPr>
                <a:latin typeface="Courier"/>
              </a:rPr>
              <a:t>'() </a:t>
            </a:r>
            <a:r>
              <a:rPr i="1">
                <a:solidFill>
                  <a:srgbClr val="60A0B0"/>
                </a:solidFill>
                <a:latin typeface="Courier"/>
              </a:rPr>
              <a:t>; return () which means null in scheme</a:t>
            </a:r>
            <a:br/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null?</a:t>
            </a:r>
            <a:r>
              <a:rPr>
                <a:latin typeface="Courier"/>
              </a:rPr>
              <a:t> '()) </a:t>
            </a:r>
            <a:r>
              <a:rPr i="1">
                <a:solidFill>
                  <a:srgbClr val="60A0B0"/>
                </a:solidFill>
                <a:latin typeface="Courier"/>
              </a:rPr>
              <a:t>; return 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Relationship Id="rId4" Type="http://schemas.openxmlformats.org/officeDocument/2006/relationships/hyperlink" Target="https://www.jdoodle.com/ga/Cj3wht7rJBU1ck7nLZcHRg%3D%3D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3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5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6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7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www.jdoodle.com/ia/1QJ4" TargetMode="Externa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4" Type="http://schemas.openxmlformats.org/officeDocument/2006/relationships/hyperlink" Target="https://www.jdoodle.com/ia/1QJa" TargetMode="External" /><Relationship Id="rId3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www.jdoodle.com/ga/1vGTMXqtFJiPNmF2DT%2BNSA%3D%3D" TargetMode="Externa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2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try.scheme.org/" TargetMode="External" /><Relationship Id="rId2" Type="http://schemas.openxmlformats.org/officeDocument/2006/relationships/image" Target="../media/image1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4" Type="http://schemas.openxmlformats.org/officeDocument/2006/relationships/hyperlink" Target="https://try.scheme.org/" TargetMode="External" /><Relationship Id="rId3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Scheme Tutorial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COS3104</a:t>
            </a:r>
            <a:br/>
            <a:br/>
            <a:r>
              <a:rPr/>
              <a:t>Krit Chomaitong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ประวัติ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สร้างโดย Gerald Sussman และ Guy Steele ปี ค.ศ. 1975 ที่ MIT</a:t>
            </a:r>
          </a:p>
          <a:p>
            <a:pPr lvl="0"/>
            <a:r>
              <a:rPr/>
              <a:t>พัฒนาจาก LISP ให้เรียบง่ายและสอดคล้องกับแคลคูลัสแลมบ์ดามากขึ้น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โปรแกรมและนิพจน์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ตัวโปรแกรมจะประกอบไปด้วยนิพจน์ซึ่งเขียนอยู่ในวงเล็บ ด้วยรูปแบบ prefix</a:t>
            </a:r>
          </a:p>
        </p:txBody>
      </p:sp>
      <p:pic>
        <p:nvPicPr>
          <p:cNvPr descr="../images/scheme-tutorial/scheme-tutorial_2026-03-03-10-38-4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75200" y="1193800"/>
            <a:ext cx="377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https://www.jdoodle.com/ga/Cj3wht7rJBU1ck7nLZcHRg%3D%3D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นิพจน์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สัญลักษณ์ตัวแรกที่ปรากฎภายในนิพจน์ เช่น </a:t>
            </a:r>
            <a:r>
              <a:rPr>
                <a:latin typeface="Courier"/>
              </a:rPr>
              <a:t>+, -, *, max</a:t>
            </a:r>
            <a:r>
              <a:rPr/>
              <a:t> จะเป็น operator หรือ function</a:t>
            </a:r>
          </a:p>
          <a:p>
            <a:pPr lvl="0"/>
            <a:r>
              <a:rPr/>
              <a:t>สัญลักษณ์ที่ตามมาจะปรากฎเป็น operand</a:t>
            </a:r>
          </a:p>
          <a:p>
            <a:pPr lvl="0"/>
            <a:r>
              <a:rPr/>
              <a:t>ข้อดีของการใช้ prefix operator คือจะสามารถเขียนกับ operand จำนวนหลายๆตัวได้</a:t>
            </a:r>
          </a:p>
          <a:p>
            <a:pPr lvl="0"/>
            <a:r>
              <a:rPr/>
              <a:t>ใช้สัญลักษณ์ </a:t>
            </a:r>
            <a:r>
              <a:rPr>
                <a:latin typeface="Courier"/>
              </a:rPr>
              <a:t>;</a:t>
            </a:r>
            <a:r>
              <a:rPr/>
              <a:t> แทนการ comment</a:t>
            </a:r>
          </a:p>
        </p:txBody>
      </p:sp>
      <p:pic>
        <p:nvPicPr>
          <p:cNvPr descr="../images/scheme-tutorial/scheme-tutorial_2026-03-03-10-41-4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536700"/>
            <a:ext cx="40386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นิพจน์ในภาษา Scheme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นิพจน์คณิตศาสตร์ (Arithmetic Expression)</a:t>
            </a:r>
          </a:p>
          <a:p>
            <a:pPr lvl="0" indent="-342900" marL="342900">
              <a:buAutoNum type="arabicPeriod"/>
            </a:pPr>
            <a:r>
              <a:rPr/>
              <a:t>นิพจน์ตรรกะ (Boolean Expression)</a:t>
            </a:r>
          </a:p>
          <a:p>
            <a:pPr lvl="0" indent="-342900" marL="342900">
              <a:buAutoNum type="arabicPeriod"/>
            </a:pPr>
            <a:r>
              <a:rPr/>
              <a:t>นิพจน์แบบมีเงื่อนไข (Conditional Expression)</a:t>
            </a:r>
          </a:p>
          <a:p>
            <a:pPr lvl="0" indent="-342900" marL="342900">
              <a:buAutoNum type="arabicPeriod"/>
            </a:pPr>
            <a:r>
              <a:rPr/>
              <a:t>นิพจน์แลมป์ดา (Lambda Expression)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นิพจน์คณิตศาสตร์ (Arithmetic Expression)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เป็นนิพจน์ที่ให้ค่าเป็นจำนวนเลข</a:t>
            </a:r>
          </a:p>
        </p:txBody>
      </p:sp>
      <p:pic>
        <p:nvPicPr>
          <p:cNvPr descr="../images/scheme-tutorial/scheme-tutorial_2026-03-03-12-08-0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917700"/>
            <a:ext cx="4038600" cy="144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นิพจน์ตรรกะ (Boolean Expression)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ให้ค่า </a:t>
            </a:r>
            <a:r>
              <a:rPr b="1"/>
              <a:t>True</a:t>
            </a:r>
            <a:r>
              <a:rPr/>
              <a:t> แทนด้วย </a:t>
            </a:r>
            <a:r>
              <a:rPr>
                <a:latin typeface="Courier"/>
              </a:rPr>
              <a:t>#t</a:t>
            </a:r>
          </a:p>
          <a:p>
            <a:pPr lvl="0"/>
            <a:r>
              <a:rPr/>
              <a:t>ให้ค่า </a:t>
            </a:r>
            <a:r>
              <a:rPr b="1"/>
              <a:t>False</a:t>
            </a:r>
            <a:r>
              <a:rPr/>
              <a:t> แทนด้วย </a:t>
            </a:r>
            <a:r>
              <a:rPr>
                <a:latin typeface="Courier"/>
              </a:rPr>
              <a:t>#f</a:t>
            </a:r>
          </a:p>
        </p:txBody>
      </p:sp>
      <p:pic>
        <p:nvPicPr>
          <p:cNvPr descr="../images/scheme-tutorial/scheme-tutorial_2026-03-03-12-16-0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651000"/>
            <a:ext cx="40386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นิพจน์แบบมีเงื่อนไข (Conditional Expression)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ใช้ </a:t>
            </a:r>
            <a:r>
              <a:rPr>
                <a:latin typeface="Courier"/>
              </a:rPr>
              <a:t>if</a:t>
            </a:r>
          </a:p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&lt;test&gt; &lt;true-expression&gt; &lt;false-expression&gt;)</a:t>
            </a:r>
          </a:p>
          <a:p>
            <a:pPr lvl="0" indent="-342900" marL="342900">
              <a:buAutoNum startAt="2" type="arabicPeriod"/>
            </a:pPr>
            <a:r>
              <a:rPr/>
              <a:t>ใช้ </a:t>
            </a:r>
            <a:r>
              <a:rPr>
                <a:latin typeface="Courier"/>
              </a:rPr>
              <a:t>cond</a:t>
            </a:r>
          </a:p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cond</a:t>
            </a:r>
            <a:br/>
            <a:r>
              <a:rPr>
                <a:latin typeface="Courier"/>
              </a:rPr>
              <a:t>  (&lt;test-expr1&gt; &lt;exprssion1&gt;)</a:t>
            </a:r>
            <a:br/>
            <a:r>
              <a:rPr>
                <a:latin typeface="Courier"/>
              </a:rPr>
              <a:t>  (&lt;test-expr2&gt; &lt;exprssion3&gt;)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(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&lt;else-expr&gt;)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ใช้ </a:t>
            </a:r>
            <a:r>
              <a:rPr>
                <a:latin typeface="Courier"/>
              </a:rPr>
              <a:t>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&lt;test&gt; &lt;true-expression&gt; &lt;false-expression&gt;)</a:t>
            </a:r>
          </a:p>
        </p:txBody>
      </p:sp>
      <p:pic>
        <p:nvPicPr>
          <p:cNvPr descr="../images/scheme-tutorial/scheme-tutorial_2026-03-03-12-28-1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778000"/>
            <a:ext cx="40386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ใช้ </a:t>
            </a:r>
            <a:r>
              <a:rPr>
                <a:latin typeface="Courier"/>
              </a:rPr>
              <a:t>cond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cond</a:t>
            </a:r>
            <a:br/>
            <a:r>
              <a:rPr>
                <a:latin typeface="Courier"/>
              </a:rPr>
              <a:t>  (&lt;test-expr1&gt; &lt;exprssion1&gt;)</a:t>
            </a:r>
            <a:br/>
            <a:r>
              <a:rPr>
                <a:latin typeface="Courier"/>
              </a:rPr>
              <a:t>  (&lt;test-expr2&gt; &lt;exprssion3&gt;)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(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&lt;else-expr&gt;)</a:t>
            </a:r>
            <a:br/>
            <a:r>
              <a:rPr>
                <a:latin typeface="Courier"/>
              </a:rPr>
              <a:t>)</a:t>
            </a:r>
          </a:p>
        </p:txBody>
      </p:sp>
      <p:pic>
        <p:nvPicPr>
          <p:cNvPr descr="../images/scheme-tutorial/scheme-tutorial_2026-03-03-12-50-1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70000"/>
            <a:ext cx="40386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นิพจน์แลมป์ดา (Lambda Expression)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เป็นนิพจน์ที่ยามฟังก์ชัน</a:t>
            </a:r>
          </a:p>
        </p:txBody>
      </p:sp>
      <p:pic>
        <p:nvPicPr>
          <p:cNvPr descr="../images/scheme-tutorial/scheme-tutorial_2026-03-03-13-07-2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841500"/>
            <a:ext cx="4038600" cy="157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ตัวอย่างฟังก์ชันบวกในแคลคูลัสแลมป์ดา</a:t>
            </a:r>
          </a:p>
        </p:txBody>
      </p:sp>
      <p:pic>
        <p:nvPicPr>
          <p:cNvPr descr="../images/scheme-tutorial/scheme-tutorial_2026-03-03-10-15-2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66800" y="1193800"/>
            <a:ext cx="699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(λx.λy. x + y)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ตัวอย่างการเรียกใช้ฟังก์ชัน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ส่งค่า 2 และ 3 เป็นพารามิเตอร์</a:t>
            </a:r>
          </a:p>
        </p:txBody>
      </p:sp>
      <p:pic>
        <p:nvPicPr>
          <p:cNvPr descr="../images/scheme-tutorial/scheme-tutorial_2026-03-03-10-18-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044700"/>
            <a:ext cx="4038600" cy="118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3"/>
              </a:rPr>
              <a:t>https://www.jdoodle.com/ia/1QJ4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ตัวอย่างการตั้งชื่อโดยใช้ฟังก์ชั่น DEFINE แบบเต็ม</a:t>
            </a:r>
          </a:p>
        </p:txBody>
      </p:sp>
      <p:pic>
        <p:nvPicPr>
          <p:cNvPr descr="../images/scheme-tutorial/scheme-tutorial_2026-03-03-13-18-1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333500"/>
            <a:ext cx="8229600" cy="260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ตัวอย่างการตั้งชื่อโดยใช้ฟังก์ชั่น DEFINE แบบย่อ</a:t>
            </a:r>
          </a:p>
        </p:txBody>
      </p:sp>
      <p:pic>
        <p:nvPicPr>
          <p:cNvPr descr="../images/scheme-tutorial/scheme-tutorial_2026-03-03-10-54-2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74900" y="1193800"/>
            <a:ext cx="439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https://www.jdoodle.com/ia/1QJa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ตัวอย่างการตั้งชื่อโดยใช้ฟังก์ชั่น DEFINE</a:t>
            </a:r>
          </a:p>
        </p:txBody>
      </p:sp>
      <p:pic>
        <p:nvPicPr>
          <p:cNvPr descr="../images/scheme-tutorial/scheme-tutorial_2026-03-03-11-23-56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74800" y="1193800"/>
            <a:ext cx="598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ตัวอย่างการใช้ฟังก์ชันพิมพ์ออกทางหน้าจอ</a:t>
            </a:r>
          </a:p>
        </p:txBody>
      </p:sp>
      <p:pic>
        <p:nvPicPr>
          <p:cNvPr descr="../images/scheme-tutorial/scheme-tutorial_2026-03-03-10-23-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5003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3"/>
              </a:rPr>
              <a:t>https://www.jdoodle.com/ga/1vGTMXqtFJiPNmF2DT%2BNSA%3D%3D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โปรแกรมและข้อมูลในภาษา Scheme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โปรแกรมใช้โครงสร้างของ List แบบเดียว</a:t>
            </a:r>
          </a:p>
        </p:txBody>
      </p:sp>
      <p:pic>
        <p:nvPicPr>
          <p:cNvPr descr="../images/scheme-tutorial/scheme-tutorial_2026-03-03-13-46-37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854200"/>
            <a:ext cx="40386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Built-in Types (Primitive Types) or Atoms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(number? 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(number? 42) → #t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Character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(char? 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(char? #\a) → #t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(string? 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(string? “hi”) → #t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(symbol? 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(symbol? ’apple) → #t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Boolean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(boolean? 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(boolean? #f) → #t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Empty 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(null? 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(null? ’()) → #t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Because Scheme is dynamically typed, you often have to write “guard” clauses in your functions to prevent errors.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Built-in Types</a:t>
            </a:r>
          </a:p>
        </p:txBody>
      </p:sp>
      <p:pic>
        <p:nvPicPr>
          <p:cNvPr descr="../images/scheme-tutorial/scheme-tutorial_2026-03-03-14-37-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2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3"/>
              </a:rPr>
              <a:t>https://try.scheme.org/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Built-in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max, min</a:t>
            </a:r>
          </a:p>
          <a:p>
            <a:pPr lvl="0"/>
            <a:r>
              <a:rPr/>
              <a:t>+, *, -, /</a:t>
            </a:r>
          </a:p>
          <a:p>
            <a:pPr lvl="0"/>
            <a:r>
              <a:rPr/>
              <a:t>quotient, modulo, remainder</a:t>
            </a:r>
          </a:p>
          <a:p>
            <a:pPr lvl="0"/>
            <a:r>
              <a:rPr/>
              <a:t>ceiling, floor, abs, magnitude, round, truncate</a:t>
            </a:r>
          </a:p>
          <a:p>
            <a:pPr lvl="0"/>
            <a:r>
              <a:rPr/>
              <a:t>gcd, lcm</a:t>
            </a:r>
          </a:p>
          <a:p>
            <a:pPr lvl="0"/>
            <a:r>
              <a:rPr/>
              <a:t>exp, log, sqrt</a:t>
            </a:r>
          </a:p>
          <a:p>
            <a:pPr lvl="0"/>
            <a:r>
              <a:rPr/>
              <a:t>sin, cos, tan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&lt;, &gt;, =, &lt;=, &gt;=</a:t>
            </a:r>
          </a:p>
          <a:p>
            <a:pPr lvl="0"/>
            <a:r>
              <a:rPr/>
              <a:t>real?, number?, complex?, rational?, integer?</a:t>
            </a:r>
          </a:p>
          <a:p>
            <a:pPr lvl="0"/>
            <a:r>
              <a:rPr/>
              <a:t>zero?, positive?, negative?, odd?, even?, exact?</a:t>
            </a:r>
          </a:p>
          <a:p>
            <a:pPr lvl="0"/>
            <a:r>
              <a:rPr/>
              <a:t>and, or, not</a:t>
            </a:r>
          </a:p>
          <a:p>
            <a:pPr lvl="0"/>
            <a:r>
              <a:rPr/>
              <a:t>equal?, boolean?</a:t>
            </a:r>
          </a:p>
          <a:p>
            <a:pPr lvl="0"/>
            <a:r>
              <a:rPr/>
              <a:t>char?, char=?, char&lt;=?, char&gt;=?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ตัวอย่างการใช้งาน</a:t>
            </a:r>
          </a:p>
        </p:txBody>
      </p:sp>
      <p:pic>
        <p:nvPicPr>
          <p:cNvPr descr="../images/scheme-tutorial/scheme-tutorial_2026-03-03-14-45-5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19200" y="1193800"/>
            <a:ext cx="670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4"/>
              </a:rPr>
              <a:t>https://try.scheme.org/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Scheme Tutorial</dc:title>
  <dc:creator>Krit Chomaitong</dc:creator>
  <cp:keywords/>
  <dcterms:created xsi:type="dcterms:W3CDTF">2026-03-03T08:41:55Z</dcterms:created>
  <dcterms:modified xsi:type="dcterms:W3CDTF">2026-03-03T08:41:55Z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COS3104</vt:lpwstr>
  </property>
  <property fmtid="{D5CDD505-2E9C-101B-9397-08002B2CF9AE}" pid="11" name="toc-title">
    <vt:lpwstr>Table of contents</vt:lpwstr>
  </property>
</Properties>
</file>